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7.jpg" ContentType="image/jpeg"/>
  <Override PartName="/ppt/media/image8.jpg" ContentType="image/jpe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72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>
        <p:scale>
          <a:sx n="118" d="100"/>
          <a:sy n="118" d="100"/>
        </p:scale>
        <p:origin x="141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985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548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377440" cy="237744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4206240"/>
            <a:ext cx="1828800" cy="1828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of Speaking · COM230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Ironman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Born From an Argument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speech on where the Ironman came from, how a bar-style debate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into a 140.6-mile race, and why people keep signing up.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2.4mi Swim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57607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112mi Bike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57607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26.2mi Run</a:t>
            </a:r>
            <a:endParaRPr lang="en-US" sz="1200" dirty="0"/>
          </a:p>
        </p:txBody>
      </p:sp>
      <p:pic>
        <p:nvPicPr>
          <p:cNvPr id="17" name="Picture 16" descr="Ironman – Quintana Roo Tri">
            <a:extLst>
              <a:ext uri="{FF2B5EF4-FFF2-40B4-BE49-F238E27FC236}">
                <a16:creationId xmlns:a16="http://schemas.microsoft.com/office/drawing/2014/main" id="{887A5BA5-804D-D885-E7D2-0577CA366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17" t="25000" b="50000"/>
          <a:stretch>
            <a:fillRect/>
          </a:stretch>
        </p:blipFill>
        <p:spPr>
          <a:xfrm>
            <a:off x="3977640" y="240030"/>
            <a:ext cx="5349240" cy="1165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2B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came from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bar-style debate that turned into a proposed race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2B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32461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took shape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40233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brutal races stitched into one single day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2B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676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66760" y="32461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still do 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40233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rarely about the medal — it's personal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Triathlon?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triathlon is a single race that strings three disciplines together, back to back, on one continuous clock: swim, then bike, then run. No breaks except to change gear.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Ironman is simply a triathlon —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longest, hardest distance.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818120" y="914400"/>
            <a:ext cx="3840480" cy="5346700"/>
          </a:xfrm>
          <a:prstGeom prst="roundRect">
            <a:avLst>
              <a:gd name="adj" fmla="val 14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of distances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17780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38160" y="1778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1732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0" y="2052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0.5mi swim, 12.4mi bike, 3.1mi run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9210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2921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0" y="2875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0" y="3195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0.93mi swim, 24.8mi bike, 6.2mi run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0640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38160" y="4064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4018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Ironman 70.3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4338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1.2mi swim, 56mi bike, 13.1mi run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Item4_30"/>
          <p:cNvSpPr/>
          <p:nvPr/>
        </p:nvSpPr>
        <p:spPr>
          <a:xfrm>
            <a:off x="8138160" y="52070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Item4_31"/>
          <p:cNvSpPr/>
          <p:nvPr/>
        </p:nvSpPr>
        <p:spPr>
          <a:xfrm>
            <a:off x="8138160" y="5207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Item4_32"/>
          <p:cNvSpPr/>
          <p:nvPr/>
        </p:nvSpPr>
        <p:spPr>
          <a:xfrm>
            <a:off x="8686800" y="5161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Ironman</a:t>
            </a:r>
            <a:endParaRPr lang="en-US" sz="1500" dirty="0"/>
          </a:p>
        </p:txBody>
      </p:sp>
      <p:sp>
        <p:nvSpPr>
          <p:cNvPr id="33" name="Item4_33"/>
          <p:cNvSpPr/>
          <p:nvPr/>
        </p:nvSpPr>
        <p:spPr>
          <a:xfrm>
            <a:off x="8686800" y="5481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2.4mi swim, 112mi bike, 26.2mi run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630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Hawaii, 1977.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full of athletes at an awards banquet. The runners think they're the toughest. The swimmers disagree. Someone brings up a magazine article claiming a cyclist has the highest recorded oxygen uptake ever measured. Voices rise. Nobody backs down.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out of that one argument came one of the hardest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single-day races on Earth.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818120" y="914400"/>
            <a:ext cx="3840480" cy="4846320"/>
          </a:xfrm>
          <a:prstGeom prst="roundRect">
            <a:avLst>
              <a:gd name="adj" fmla="val 14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arguing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1783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381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0" y="2057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marathoners were the fittest athletes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1089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0" y="3383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 to grueling open-water endurance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4348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3816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4389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4709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stat: Eddy Merckx's oxygen uptake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lab. Not a committee.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argument.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1977 awards ceremony for the Oahu Perimeter Relay, members of a local running club and swim club argued over who was more fit. Then U.S. Navy Commander John Collins jumped in: Sports Illustrated had just credited cyclist Eddy Merckx with the highest oxygen uptake ever recorded — maybe cyclists were the real athletes.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6949440" cy="13716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46177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“Whoever finishes first, we'll call him the Iron Man.”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52120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John Collins, proposing the challenge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868680"/>
            <a:ext cx="3703320" cy="4983480"/>
          </a:xfrm>
          <a:prstGeom prst="roundRect">
            <a:avLst>
              <a:gd name="adj" fmla="val 148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75320" y="1143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oxygen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7532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Eddy Merckx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75320" y="2057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Belgian cyclist cited for the highest recorded oxygen uptake at the time — the spark that turned a friendly rivalry into a proposal.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3611880"/>
            <a:ext cx="3108960" cy="0"/>
          </a:xfrm>
          <a:prstGeom prst="line">
            <a:avLst/>
          </a:prstGeom>
          <a:noFill/>
          <a:ln w="12700">
            <a:solidFill>
              <a:srgbClr val="5AA3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18, 1978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75320" y="4297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fifteen athletes show up on the beach to settle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races. One single day.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and his wife Judy combined the toughest existing endurance races on Oahu into one event.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mi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Waikiki Roughwater Swim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 mi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3337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Around-Oahu Bike Race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0" y="2514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 mi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21040" y="3337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Honolulu Marathon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0744200" cy="1417320"/>
          </a:xfrm>
          <a:prstGeom prst="roundRect">
            <a:avLst>
              <a:gd name="adj" fmla="val 387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started · 12 finished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023360" y="4663440"/>
            <a:ext cx="7040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runner-up, John Dunbar — a U.S. Navy SEAL — was actually leading the race until he ran out of water on the marathon. His crew handed him beer instead.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rarely about the medal.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race moved to Kona on Hawaii's Big Island in 1981 and became the World Championship. From there it exploded — full-distance races, and the shorter 70.3 "half Ironman" for people building up to the real thing.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There's no way to fake 17 hours of continuous effort. Every finisher — fast or slow — answers the same question: can I keep going when my body says stop?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06640" y="868680"/>
            <a:ext cx="4251960" cy="4937760"/>
          </a:xfrm>
          <a:prstGeom prst="roundRect">
            <a:avLst>
              <a:gd name="adj" fmla="val 1720"/>
            </a:avLst>
          </a:prstGeom>
          <a:solidFill>
            <a:srgbClr val="2B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0" y="11887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772400" y="2331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continuous effort — the cutoff most races allow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3200400"/>
            <a:ext cx="3566160" cy="0"/>
          </a:xfrm>
          <a:prstGeom prst="line">
            <a:avLst/>
          </a:prstGeom>
          <a:noFill/>
          <a:ln w="12700">
            <a:solidFill>
              <a:srgbClr val="445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mi swim  +  112 mi bike  +  26.2 mi run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3977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line is less about beating someone else, and more about becoming someone slightly different than who started that morning.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we've come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140.6 miles. Three very different eras.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2B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2953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11:46:58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538728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Haller — first-ever finisher, the original Ironman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219456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· Kona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587752"/>
            <a:ext cx="2953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7:35:53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3538728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Lange — World Championship course record, the hardest course in the sport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2B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219456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Record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587752"/>
            <a:ext cx="2953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7:21:12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12480" y="3538728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Kristian Blummenfelt — Ironman Cozumel 2021, fastest official iron-distance time anywhere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10912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 w="12700">
            <a:solidFill>
              <a:srgbClr val="445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50109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hrs 26 min faster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501091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 inaugural 1978 finish — 46 years of training, nutrition, and equipment improving together. Kona's heat and wind still make it the toughest test, which is why its record trails the flat-course best.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8F1EE4-21CB-AE01-8326-AED279CC56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66" b="17151"/>
          <a:stretch>
            <a:fillRect/>
          </a:stretch>
        </p:blipFill>
        <p:spPr>
          <a:xfrm>
            <a:off x="6254496" y="1691640"/>
            <a:ext cx="5385816" cy="3429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9013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80901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and drop bars vs. carbon and aerodynamics.</a:t>
            </a:r>
            <a:endParaRPr lang="en-US" sz="1350" dirty="0"/>
          </a:p>
        </p:txBody>
      </p:sp>
      <p:pic>
        <p:nvPicPr>
          <p:cNvPr id="5" name="Image 0" descr="/sessions/serene-eager-mccarthy/mnt/outputs/gear_bike_the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91640"/>
            <a:ext cx="539496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94960" cy="3429000"/>
          </a:xfrm>
          <a:prstGeom prst="rect">
            <a:avLst/>
          </a:prstGeom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54880" y="4736592"/>
            <a:ext cx="118872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120640"/>
            <a:ext cx="5394960" cy="868680"/>
          </a:xfrm>
          <a:prstGeom prst="rect">
            <a:avLst/>
          </a:prstGeom>
          <a:solidFill>
            <a:srgbClr val="EA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steel-frame road bike with drop bars — no aerodynamics to speak of.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3429000"/>
          </a:xfrm>
          <a:prstGeom prst="rect">
            <a:avLst/>
          </a:prstGeom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0405872" y="4700016"/>
            <a:ext cx="1188720" cy="384048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45352" y="5120640"/>
            <a:ext cx="5394960" cy="868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19672" y="5120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Carbon-fiber aero frame, aero bars, and a disc wheel built to cut through wind.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wetsuit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bare shoulders to engineered buoyancy.</a:t>
            </a:r>
            <a:endParaRPr lang="en-US" sz="1350" dirty="0"/>
          </a:p>
        </p:txBody>
      </p:sp>
      <p:pic>
        <p:nvPicPr>
          <p:cNvPr id="5" name="Image 0" descr="/sessions/serene-eager-mccarthy/mnt/outputs/gear_wetsuit_the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39496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94960" cy="3429000"/>
          </a:xfrm>
          <a:prstGeom prst="rect">
            <a:avLst/>
          </a:prstGeom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856232"/>
            <a:ext cx="118872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120640"/>
            <a:ext cx="5394960" cy="868680"/>
          </a:xfrm>
          <a:prstGeom prst="rect">
            <a:avLst/>
          </a:prstGeom>
          <a:solidFill>
            <a:srgbClr val="EA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wetsuit — athletes swam in briefs in Hawaii's warm water.</a:t>
            </a:r>
            <a:endParaRPr lang="en-US" sz="1300" dirty="0"/>
          </a:p>
        </p:txBody>
      </p:sp>
      <p:pic>
        <p:nvPicPr>
          <p:cNvPr id="10" name="Image 1" descr="/sessions/serene-eager-mccarthy/mnt/outputs/gear_wetsuit_now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5352" y="1691640"/>
            <a:ext cx="5394960" cy="3429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45352" y="1691640"/>
            <a:ext cx="5394960" cy="3429000"/>
          </a:xfrm>
          <a:prstGeom prst="rect">
            <a:avLst/>
          </a:prstGeom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9944" y="1856232"/>
            <a:ext cx="1188720" cy="384048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45352" y="5120640"/>
            <a:ext cx="5394960" cy="868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19672" y="5120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Tri-specific wetsuits engineered for buoyancy, flexibility, and speed.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Would you spend £800 on a tri-suit? | 220 Triathlon">
            <a:extLst>
              <a:ext uri="{FF2B5EF4-FFF2-40B4-BE49-F238E27FC236}">
                <a16:creationId xmlns:a16="http://schemas.microsoft.com/office/drawing/2014/main" id="{115CF064-37B5-1D96-3C6F-1A03CD1F4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850188"/>
            <a:ext cx="4846320" cy="32308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 suit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cotton and cutoffs to a single aero suit.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94960" cy="3429000"/>
          </a:xfrm>
          <a:prstGeom prst="rect">
            <a:avLst/>
          </a:prstGeom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6298" y="1737360"/>
            <a:ext cx="118872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120640"/>
            <a:ext cx="5394960" cy="868680"/>
          </a:xfrm>
          <a:prstGeom prst="rect">
            <a:avLst/>
          </a:prstGeom>
          <a:solidFill>
            <a:srgbClr val="EA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running clothes — cotton tees and shorts, nothing built for triathlon.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3429000"/>
          </a:xfrm>
          <a:prstGeom prst="rect">
            <a:avLst/>
          </a:prstGeom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85849" y="1705356"/>
            <a:ext cx="1188720" cy="384048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45352" y="5120640"/>
            <a:ext cx="5394960" cy="868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19672" y="5120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one-piece aerodynamic suit worn for all three legs of the race.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16" name="Picture 15" descr="Discover 100 80s triathlon and triathlon ideas | dave scott ironman, big  sunglasses, classic triathlon design and more">
            <a:extLst>
              <a:ext uri="{FF2B5EF4-FFF2-40B4-BE49-F238E27FC236}">
                <a16:creationId xmlns:a16="http://schemas.microsoft.com/office/drawing/2014/main" id="{394D2AB6-4356-BF99-26F7-00EF96D71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52" y="1941605"/>
            <a:ext cx="1873218" cy="3079477"/>
          </a:xfrm>
          <a:prstGeom prst="rect">
            <a:avLst/>
          </a:prstGeom>
        </p:spPr>
      </p:pic>
      <p:pic>
        <p:nvPicPr>
          <p:cNvPr id="17" name="Picture 16" descr="What Was Triathlon Like 40 Years Ago?">
            <a:extLst>
              <a:ext uri="{FF2B5EF4-FFF2-40B4-BE49-F238E27FC236}">
                <a16:creationId xmlns:a16="http://schemas.microsoft.com/office/drawing/2014/main" id="{B8C674CA-9DD3-EAFC-5539-5D4D1C9C6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104" y="2039216"/>
            <a:ext cx="1854336" cy="28528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standard sneakers to a carbon-fiber engine.</a:t>
            </a:r>
            <a:endParaRPr lang="en-US" sz="1350" dirty="0"/>
          </a:p>
        </p:txBody>
      </p:sp>
      <p:pic>
        <p:nvPicPr>
          <p:cNvPr id="5" name="Image 0" descr="/sessions/serene-eager-mccarthy/mnt/outputs/gear_shoe_the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39496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94960" cy="3429000"/>
          </a:xfrm>
          <a:prstGeom prst="rect">
            <a:avLst/>
          </a:prstGeom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856232"/>
            <a:ext cx="1188720" cy="384048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120640"/>
            <a:ext cx="5394960" cy="868680"/>
          </a:xfrm>
          <a:prstGeom prst="rect">
            <a:avLst/>
          </a:prstGeom>
          <a:solidFill>
            <a:srgbClr val="EA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training sneakers — nothing race-specific existed yet.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3429000"/>
          </a:xfrm>
          <a:prstGeom prst="rect">
            <a:avLst/>
          </a:prstGeom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9944" y="1856232"/>
            <a:ext cx="1188720" cy="384048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45352" y="5120640"/>
            <a:ext cx="5394960" cy="868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19672" y="5120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carbon-fiber plate inside a "super shoe," built for a faster closing marathon.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16" name="Picture 15" descr="Women's Nike Alphafly 3">
            <a:extLst>
              <a:ext uri="{FF2B5EF4-FFF2-40B4-BE49-F238E27FC236}">
                <a16:creationId xmlns:a16="http://schemas.microsoft.com/office/drawing/2014/main" id="{41A1812F-7B90-3BBD-B1CA-CD064F6DC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1764279"/>
            <a:ext cx="2626977" cy="3283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114800" cy="4114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left to argue about.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began as a heated argument at a Hawaiian awards dinner about swimmers, runners, and cyclists turned into a race that settles the debate — because in the Ironman, everyone has to be all three.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i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just a competition anymore. It's a test people choose to take on themselves — because the person who finishes it is never quite the same as the person who started it.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2B357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 — The Argument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566928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2B357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 — The First Race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566928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2B357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A Global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6599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05A120-B9BB-BF44-B7CE-65451B7B8F3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ba7ff3a-c161-423c-af03-fd7b94078d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1025</Words>
  <Application>Microsoft Macintosh PowerPoint</Application>
  <PresentationFormat>Widescreen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Srikanth,Srinarayan</cp:lastModifiedBy>
  <cp:revision>2</cp:revision>
  <dcterms:created xsi:type="dcterms:W3CDTF">2026-07-21T18:30:58Z</dcterms:created>
  <dcterms:modified xsi:type="dcterms:W3CDTF">2026-07-21T19:21:21Z</dcterms:modified>
</cp:coreProperties>
</file>